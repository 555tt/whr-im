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3" r:id="rId15"/>
    <p:sldId id="274" r:id="rId16"/>
    <p:sldId id="268" r:id="rId17"/>
    <p:sldId id="269" r:id="rId18"/>
    <p:sldId id="270" r:id="rId19"/>
    <p:sldId id="271" r:id="rId20"/>
    <p:sldId id="272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586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XXX，我的毕业设计题目是《基于Gin和WebSocket的IM即时通讯系统设计与实现》。在接下来的时间里，我将从研究背景、系统设计、核心实现、成果展示等几个方面，向各位老师汇报我的项目成果。请各位老师批评指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围绕六个部分展开。首先，我会介绍项目的研究背景与意义；其次，阐述具体的研究目标与核心需求；接着，展示系统的总体设计方案；然后，深入剖析核心技术，特别是端到端加密的实现；之后，会通过测试结果和系统演示来展示项目成果；最后，对整个项目进行总结并对未来工作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首先，我们进入第一部分，研究背景与意义。在这一部分，我将阐述为什么要做这个项目，以及它所解决的问题和价值所在。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即时通讯工具在我们的日常生活中扮演着至关重要的角色，但同时也带来了严峻的隐私挑战。聊天内容中的个人信息、财务数据等一旦泄露，后果不堪设想。因此，引入端到端加密技术，确保消息只有发送方和接收方能解密，已成为保障用户隐私的关键。本项目的意义就在于，构建一个既好用又安全的即时通讯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接下来，我们来看第二部分，研究目标与核心需求。这里将明确我们要做什么，以及系统需要具备哪些核心功能。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我们的目标，系统需要满足六大核心功能需求。首先是安全的用户认证体系；其次是完整的社交关系链管理；第三是基于WebSocket的实时聊天能力；第四，也是本项目的重点，即端到端加密通信；第五是丰富的社交动态与个性化功能，如朋友圈；最后，我们还创新性地集成了AI文案助手，提升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创新点主要体现在三个方面。第一，我们实现了端到端加密与轻量社交功能的深度融合，让系统更具实用价值。第二，我们针对单聊和群聊场景设计了差异化的加密方案，兼顾了安全性和效率。第三，我们将大语言模型真正落地到社交场景中，为用户提供了实用的AI文案助手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下面，我们进入第三部分，系统总体设计。我将介绍系统的整体架构和关键的设计决策。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我们的系统采用了经典的分层架构。对于用户注册、好友管理这类非实时请求，我们使用RESTful API来处理，保证了操作的稳定性。而对于核心的实时聊天功能，则通过WebSocket长连接来实现，确保了消息的即时推送。这张图展示了我们系统的功能模块划分和详细的技术架构。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数据库ER图。可以看到，我们设计了用户、好友关系、聊天、消息、朋友圈等核心实体。这些表结构清晰地定义了各个模块之间的关系，为系统的稳定运行提供了坚实的数据基础。所有消息内容在数据库中均以密文形式存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第四部分，我们将深入探讨项目的核心技术实现，特别是端到端加密方案的具体细节。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B2E13-3C19-CE11-1D57-627787B5D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26B641-62EE-53D6-25DF-CF33F1E380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D1350-06F7-F02E-6AAE-7374A67693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B7620CB-4EF0-B0F9-EDC5-E78D8D7B34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50D491A-BE10-B6F6-870D-4BB676A2E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FE07F-10F0-EFC0-E4E2-2A75AE1B4E2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74F49-32F4-B514-FE33-138BC0D48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9876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C91AD-13AB-A166-9C93-DCA8326BB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C9371B-48F5-4DCF-444C-8F988DA4ED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EDB043-5B4E-0AAD-B317-B85945950D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E44C74C-8EF0-6702-0F3F-2B35E4537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4E647CE-F710-1632-F654-AD58C44DC5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1709D-CD3C-60B5-4CA8-08C5BA0FAE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4AE65-4404-AC17-7497-8B22C91C8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85432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理论和设计最终要通过实践来检验。在第五部分，我将展示系统的测试结果和实际运行效果。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对系统的各项核心功能进行了全面测试。从表格中可以看到，用户认证、好友关系、单聊与群聊加密、WebSocket通信、朋友圈以及AI文案助手等所有模块均已成功通过测试。在安全方面，我们也针对密码、通信和消息存储进行了加固，并遵循了OWASP Top 10的防护原则，确保了系统的安全性。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通过一段视频来演示系统的实际运行效果。视频将依次展示用户注册登录、添加好友、单聊加密、群聊、朋友圈互动以及使用AI文案助手发布动态等核心功能。通过这个演示，各位老师可以直观地感受到系统的完整功能和流畅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的项目进行总结与展望。本次毕业设计，我成功实现了一个功能完整、技术亮点突出的IM系统。我们不仅实现了端到端加密，还创新性地集成了大模型。当然，项目也存在一些不足，比如尚未支持多设备同步。未来，我希望能在此基础上，开发移动端应用，引入更先进的安全协议，并增强AI能力，让系统变得更加完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我的汇报到此结束。再次感谢各位评委老师的耐心聆听与悉心指导！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2286000"/>
            <a:ext cx="762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2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基于</a:t>
            </a:r>
            <a:r>
              <a:rPr lang="en-US" sz="22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 Gin 和 WebSocket 的 IM </a:t>
            </a:r>
            <a:r>
              <a:rPr lang="en-US" sz="22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即时通讯系统设计与实现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1/4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41300" y="4318000"/>
            <a:ext cx="6985000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答辩人</a:t>
            </a: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王浩然</a:t>
            </a: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      </a:t>
            </a: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指导老师</a:t>
            </a: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： </a:t>
            </a:r>
            <a:r>
              <a:rPr lang="zh-CN" alt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楚杨阳</a:t>
            </a: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      答辩日期：2026年</a:t>
            </a:r>
            <a:r>
              <a:rPr lang="en-US" sz="14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06月09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406400" y="127000"/>
            <a:ext cx="571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毕业设计答辩</a:t>
            </a:r>
            <a:r>
              <a:rPr lang="en-US" sz="1800" b="1" i="0" u="none" strike="noStrike" dirty="0">
                <a:solidFill>
                  <a:srgbClr val="969696"/>
                </a:solidFill>
                <a:latin typeface="微软雅黑"/>
                <a:ea typeface="微软雅黑"/>
                <a:cs typeface="微软雅黑"/>
                <a:sym typeface="微软雅黑"/>
              </a:rPr>
              <a:t>| </a:t>
            </a:r>
            <a:r>
              <a:rPr lang="zh-CN" altLang="en-US" sz="1800" b="1" dirty="0">
                <a:solidFill>
                  <a:srgbClr val="969696"/>
                </a:solidFill>
                <a:latin typeface="微软雅黑"/>
                <a:ea typeface="微软雅黑"/>
                <a:cs typeface="微软雅黑"/>
                <a:sym typeface="微软雅黑"/>
              </a:rPr>
              <a:t>软件</a:t>
            </a:r>
            <a:r>
              <a:rPr lang="en-US" sz="1800" b="1" i="0" u="none" strike="noStrike" dirty="0" err="1">
                <a:solidFill>
                  <a:srgbClr val="969696"/>
                </a:solidFill>
                <a:latin typeface="微软雅黑"/>
                <a:ea typeface="微软雅黑"/>
                <a:cs typeface="微软雅黑"/>
                <a:sym typeface="微软雅黑"/>
              </a:rPr>
              <a:t>学院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8" name="Connector 8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41300" y="1435100"/>
            <a:ext cx="8547100" cy="2667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8333"/>
              </a:lnSpc>
              <a:spcAft>
                <a:spcPts val="800"/>
              </a:spcAft>
              <a:defRPr/>
            </a:pPr>
            <a:r>
              <a:rPr lang="en-US" sz="1400" b="1" i="0" u="none" strike="noStrike" dirty="0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01 </a:t>
            </a:r>
            <a:r>
              <a:rPr lang="en-US" sz="14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研究背景与意义</a:t>
            </a:r>
            <a:endParaRPr lang="en-US" sz="1100" dirty="0"/>
          </a:p>
          <a:p>
            <a:pPr marL="0" indent="0" algn="just">
              <a:lnSpc>
                <a:spcPct val="108333"/>
              </a:lnSpc>
              <a:spcAft>
                <a:spcPts val="800"/>
              </a:spcAft>
            </a:pPr>
            <a:r>
              <a:rPr lang="en-US" sz="1400" b="1" i="0" u="none" strike="noStrike" dirty="0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02 </a:t>
            </a:r>
            <a:r>
              <a:rPr lang="en-US" sz="14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研究目标与核心需求</a:t>
            </a:r>
            <a:r>
              <a:rPr lang="en-US" sz="13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  <a:p>
            <a:pPr marL="0" indent="0" algn="just">
              <a:lnSpc>
                <a:spcPct val="108333"/>
              </a:lnSpc>
              <a:spcAft>
                <a:spcPts val="800"/>
              </a:spcAft>
            </a:pPr>
            <a:r>
              <a:rPr lang="en-US" sz="1400" b="1" i="0" u="none" strike="noStrike" dirty="0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03 </a:t>
            </a:r>
            <a:r>
              <a:rPr lang="en-US" sz="14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系统总体设计</a:t>
            </a:r>
            <a:endParaRPr lang="en-US" sz="1300" b="0" i="0" u="none" strike="noStrike" dirty="0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ct val="108333"/>
              </a:lnSpc>
              <a:spcAft>
                <a:spcPts val="800"/>
              </a:spcAft>
            </a:pPr>
            <a:r>
              <a:rPr lang="en-US" sz="1400" b="1" i="0" u="none" strike="noStrike" dirty="0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04 </a:t>
            </a:r>
            <a:r>
              <a:rPr lang="en-US" sz="14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核心技术实现</a:t>
            </a:r>
            <a:endParaRPr lang="en-US" sz="1300" b="0" i="0" u="none" strike="noStrike" dirty="0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ct val="108333"/>
              </a:lnSpc>
              <a:spcAft>
                <a:spcPts val="800"/>
              </a:spcAft>
            </a:pPr>
            <a:r>
              <a:rPr lang="en-US" sz="1400" b="1" i="0" u="none" strike="noStrike" dirty="0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05 </a:t>
            </a:r>
            <a:r>
              <a:rPr lang="en-US" sz="14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系统测试与成果展示</a:t>
            </a:r>
            <a:r>
              <a:rPr lang="en-US" sz="13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  <a:p>
            <a:pPr marL="0" indent="0" algn="just">
              <a:lnSpc>
                <a:spcPct val="108333"/>
              </a:lnSpc>
            </a:pPr>
            <a:r>
              <a:rPr lang="en-US" sz="1400" b="1" i="0" u="none" strike="noStrike" dirty="0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06 </a:t>
            </a:r>
            <a:r>
              <a:rPr lang="en-US" sz="14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总结与展望</a:t>
            </a:r>
            <a:endParaRPr lang="en-US" sz="1300" b="0" i="0" u="none" strike="noStrike" dirty="0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41300" y="977900"/>
            <a:ext cx="57150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项目答辩大纲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1/6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06400" y="127000"/>
            <a:ext cx="44323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目录</a:t>
            </a:r>
            <a:r>
              <a:rPr lang="en-US" sz="20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CONTENTS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9" name="Connector 9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400" y="1524000"/>
            <a:ext cx="8255000" cy="254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90500" rIns="127000" bIns="1905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AAA6"/>
                </a:solidFill>
                <a:latin typeface="Noto Sans SC"/>
                <a:ea typeface="Noto Sans SC"/>
                <a:cs typeface="Noto Sans SC"/>
                <a:sym typeface="Noto Sans SC"/>
              </a:rPr>
              <a:t>一、研究背景：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行业正处于数字化转型的关键节点，传统模式下的效率瓶颈、资源配置失衡等问题日益凸显，用户需求也从单一功能满足转向多元化、个性化的体验追求。市场环境的快速变化与技术迭代的加速，迫切需要新的理论与实践方案来指引发展方向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00AAA6"/>
                </a:solidFill>
                <a:latin typeface="Noto Sans SC"/>
                <a:ea typeface="Noto Sans SC"/>
                <a:cs typeface="Noto Sans SC"/>
                <a:sym typeface="Noto Sans SC"/>
              </a:rPr>
              <a:t>二、研究意义：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不仅能够为企业突破发展瓶颈提供切实可行的路径，解决实际运营中的核心痛点，更能在理论层面丰富行业研究体系，为同领域的探索提供参考依据，同时挖掘出未被充分开发的市场价值，实现社会与经济双重效益的提升。</a:t>
            </a:r>
          </a:p>
        </p:txBody>
      </p:sp>
      <p:sp>
        <p:nvSpPr>
          <p:cNvPr id="4" name="AutoShape 4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1/4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06400" y="127000"/>
            <a:ext cx="571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01 研究背景与意义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8" name="Connector 8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41300" y="1435100"/>
            <a:ext cx="8547100" cy="2286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4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01 研究背景：即时通讯的双重性</a:t>
            </a:r>
            <a:endParaRPr lang="en-US" sz="1100"/>
          </a:p>
          <a:p>
            <a:pPr marL="0" indent="0" algn="just">
              <a:lnSpc>
                <a:spcPts val="2100"/>
              </a:lnSpc>
            </a:pPr>
            <a:r>
              <a:rPr lang="en-US" sz="13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社交基础设施的重要性：</a:t>
            </a:r>
            <a:r>
              <a:rPr lang="en-US" sz="13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即时通讯(IM)已深度渗透现代生活，成为不可或缺的沟通载体，重构了人际交流与信息传播的方式。</a:t>
            </a:r>
          </a:p>
          <a:p>
            <a:pPr marL="0" indent="0" algn="just">
              <a:lnSpc>
                <a:spcPts val="2100"/>
              </a:lnSpc>
            </a:pPr>
            <a:r>
              <a:rPr lang="en-US" sz="13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隐私泄露的严峻挑战：</a:t>
            </a:r>
            <a:r>
              <a:rPr lang="en-US" sz="13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通讯内容常包含个人身份、财务、健康等敏感信息，系统漏洞或数据窃取行为极易引发大规模隐私泄露，威胁用户安全。</a:t>
            </a:r>
          </a:p>
          <a:p>
            <a:pPr marL="0" indent="0" algn="just">
              <a:lnSpc>
                <a:spcPct val="100000"/>
              </a:lnSpc>
              <a:spcAft>
                <a:spcPts val="1000"/>
              </a:spcAft>
            </a:pPr>
            <a:r>
              <a:rPr lang="en-US" sz="14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02 研究意义：端到端加密的必要性</a:t>
            </a:r>
          </a:p>
          <a:p>
            <a:pPr marL="0" indent="0" algn="just">
              <a:lnSpc>
                <a:spcPts val="2100"/>
              </a:lnSpc>
            </a:pPr>
            <a:r>
              <a:rPr lang="en-US" sz="13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核心技术趋势：</a:t>
            </a:r>
            <a:r>
              <a:rPr lang="en-US" sz="13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端到端加密(E2EE)是IM系统的安全基石，确保消息仅通信双方可解密，从技术层面切断第三方窃听与数据滥用的可能。</a:t>
            </a:r>
          </a:p>
          <a:p>
            <a:pPr marL="0" indent="0" algn="just">
              <a:lnSpc>
                <a:spcPts val="2100"/>
              </a:lnSpc>
            </a:pPr>
            <a:r>
              <a:rPr lang="en-US" sz="1300" b="1" i="0" u="none" strike="noStrike">
                <a:solidFill>
                  <a:srgbClr val="8A1538"/>
                </a:solidFill>
                <a:latin typeface="微软雅黑"/>
                <a:ea typeface="微软雅黑"/>
                <a:cs typeface="微软雅黑"/>
                <a:sym typeface="微软雅黑"/>
              </a:rPr>
              <a:t>项目建设目标：</a:t>
            </a:r>
            <a:r>
              <a:rPr lang="en-US" sz="13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构建具备完整社交链路的Web端IM系统，落地工业级E2EE能力，将用户隐私保护落实到消息传输、存储的全生命周期。</a:t>
            </a:r>
          </a:p>
        </p:txBody>
      </p:sp>
      <p:sp>
        <p:nvSpPr>
          <p:cNvPr id="3" name="AutoShape 3"/>
          <p:cNvSpPr/>
          <p:nvPr/>
        </p:nvSpPr>
        <p:spPr>
          <a:xfrm>
            <a:off x="241300" y="977900"/>
            <a:ext cx="82550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双重属性驱动技术变革</a:t>
            </a:r>
            <a:r>
              <a:rPr lang="en-US" sz="18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—— 从社交刚需到隐私防线的构建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2/4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06400" y="127000"/>
            <a:ext cx="44323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研究背景与意义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9" name="Connector 9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17500" y="1028700"/>
            <a:ext cx="8382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90500" rIns="127000" bIns="1905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AAA6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800" b="1" i="0" u="none" strike="noStrike" dirty="0" err="1">
                <a:solidFill>
                  <a:srgbClr val="00AAA6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研究核心目标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明确系统建设的方向与价值锚点，聚焦业务场景痛点，梳理从用户需求到产品落地的关键路径，确保系统功能与业务实际应用高度契合，为后续架构设计与开发实施提供清晰指引。</a:t>
            </a:r>
          </a:p>
          <a:p>
            <a:pPr marL="0" indent="0" algn="l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00AAA6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800" b="1" i="0" u="none" strike="noStrike" dirty="0" err="1">
                <a:solidFill>
                  <a:srgbClr val="00AAA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关键核心需求</a:t>
            </a:r>
            <a:endParaRPr lang="en-US" sz="1800" b="1" i="0" u="none" strike="noStrike" dirty="0">
              <a:solidFill>
                <a:srgbClr val="00AAA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构建“功能适配、交互高效、安全可控”的核心体系：需覆盖业务全流程的功能模块，保障操作流程的简洁性与易用性，同时筑牢数据安全与系统稳定性的底层防线，满足用户对系统可靠性与实用性的双重诉求。</a:t>
            </a:r>
          </a:p>
        </p:txBody>
      </p:sp>
      <p:sp>
        <p:nvSpPr>
          <p:cNvPr id="4" name="AutoShape 4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1/4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06400" y="127000"/>
            <a:ext cx="609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02 研究目标与核心需求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t="27291" b="27291"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8" name="Connector 8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t="397" b="397"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41300" y="2044700"/>
            <a:ext cx="8547100" cy="12319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4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02 实时通信与隐私加密</a:t>
            </a:r>
            <a:r>
              <a:rPr lang="en-US" sz="14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（核心通信能力构建）</a:t>
            </a:r>
            <a:endParaRPr lang="en-US" sz="1100"/>
          </a:p>
          <a:p>
            <a:pPr marL="0" indent="0" algn="just">
              <a:lnSpc>
                <a:spcPts val="2100"/>
              </a:lnSpc>
            </a:pPr>
            <a:r>
              <a:rPr lang="en-US" sz="13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基于WebSocket协议实现低延迟的单聊与群聊功能，支持全量历史消息云端存储与快速回溯查询，保障沟通的连续性。</a:t>
            </a:r>
          </a:p>
          <a:p>
            <a:pPr marL="0" indent="0" algn="just">
              <a:lnSpc>
                <a:spcPts val="2100"/>
              </a:lnSpc>
            </a:pPr>
            <a:r>
              <a:rPr lang="en-US" sz="13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采用高强度端到端加密方案，单聊使用RSA-OAEP双密文机制，群聊采用AES-GCM混合加密模式，从传输到存储全链路保障数据安全。</a:t>
            </a:r>
          </a:p>
        </p:txBody>
      </p:sp>
      <p:sp>
        <p:nvSpPr>
          <p:cNvPr id="3" name="AutoShape 3"/>
          <p:cNvSpPr/>
          <p:nvPr/>
        </p:nvSpPr>
        <p:spPr>
          <a:xfrm>
            <a:off x="241300" y="901700"/>
            <a:ext cx="8547100" cy="965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4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01 安全基石与社交架构</a:t>
            </a:r>
            <a:r>
              <a:rPr lang="en-US" sz="14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（基础支撑体系搭建）</a:t>
            </a:r>
            <a:endParaRPr lang="en-US" sz="1100"/>
          </a:p>
          <a:p>
            <a:pPr marL="0" indent="0" algn="just">
              <a:lnSpc>
                <a:spcPts val="2100"/>
              </a:lnSpc>
            </a:pPr>
            <a:r>
              <a:rPr lang="en-US" sz="13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构建完善的用户认证体系，采用JWT实现无状态身份校验，密码通过bcrypt算法加密存储，从源头保障账号安全。</a:t>
            </a:r>
          </a:p>
          <a:p>
            <a:pPr marL="0" indent="0" algn="just">
              <a:lnSpc>
                <a:spcPts val="2100"/>
              </a:lnSpc>
            </a:pPr>
            <a:r>
              <a:rPr lang="en-US" sz="13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提供全生命周期社交关系链管理，支持好友申请、审批、拉黑等操作，实现好友列表的动态维护与权限管控。</a:t>
            </a:r>
          </a:p>
        </p:txBody>
      </p:sp>
      <p:sp>
        <p:nvSpPr>
          <p:cNvPr id="4" name="AutoShape 4"/>
          <p:cNvSpPr/>
          <p:nvPr/>
        </p:nvSpPr>
        <p:spPr>
          <a:xfrm>
            <a:off x="241300" y="3517900"/>
            <a:ext cx="8547100" cy="1079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4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03 社交生态与智能赋能</a:t>
            </a:r>
            <a:r>
              <a:rPr lang="en-US" sz="14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（用户体验与创新功能）</a:t>
            </a:r>
            <a:endParaRPr lang="en-US" sz="1100"/>
          </a:p>
          <a:p>
            <a:pPr marL="0" indent="0" algn="just">
              <a:lnSpc>
                <a:spcPts val="2100"/>
              </a:lnSpc>
            </a:pPr>
            <a:r>
              <a:rPr lang="en-US" sz="13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打造丰富的社交动态场景，支持朋友圈发布、互动点赞与评论，提供多样化主页皮肤满足用户个性化展示需求。</a:t>
            </a:r>
          </a:p>
          <a:p>
            <a:pPr marL="0" indent="0" algn="just">
              <a:lnSpc>
                <a:spcPts val="2100"/>
              </a:lnSpc>
            </a:pPr>
            <a:r>
              <a:rPr lang="en-US" sz="13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创新集成DeepSeek大语言模型，开发AI文案助手功能，为用户提供智能文案生成、语句润色等服务，提升沟通表达效率。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06400" y="127000"/>
            <a:ext cx="571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Web即时通讯系统核心功能需求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10" name="Connector 10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41300" y="2044700"/>
            <a:ext cx="8547100" cy="12319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4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02. 差异化的加密方案设计</a:t>
            </a:r>
            <a:endParaRPr lang="en-US" sz="1100"/>
          </a:p>
          <a:p>
            <a:pPr marL="0" indent="0" algn="just">
              <a:lnSpc>
                <a:spcPts val="2100"/>
              </a:lnSpc>
            </a:pPr>
            <a:r>
              <a:rPr lang="en-US" sz="13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针对单聊场景设计“双密文”方案，确保发送方与接收方可独立解密并查看历史消息，保障隐私连贯性；针对群聊场景采用“混合加密”方案，在确保数据安全的前提下，高效解决群成员动态变更时的密钥分发与管理难题，兼顾安全与运维效率。</a:t>
            </a:r>
          </a:p>
        </p:txBody>
      </p:sp>
      <p:sp>
        <p:nvSpPr>
          <p:cNvPr id="3" name="AutoShape 3"/>
          <p:cNvSpPr/>
          <p:nvPr/>
        </p:nvSpPr>
        <p:spPr>
          <a:xfrm>
            <a:off x="241300" y="901700"/>
            <a:ext cx="8547100" cy="965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4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01. 端到端加密与轻量社交的深度融合</a:t>
            </a:r>
            <a:endParaRPr lang="en-US" sz="1100"/>
          </a:p>
          <a:p>
            <a:pPr marL="0" indent="0" algn="just">
              <a:lnSpc>
                <a:spcPts val="2100"/>
              </a:lnSpc>
            </a:pPr>
            <a:r>
              <a:rPr lang="en-US" sz="13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区别于常规基础聊天类学生项目，系统将工业级端到端加密技术与完整轻量社交生态（朋友圈动态、好友关系链管理、即时通讯）深度结合，既筑牢数据传输与存储的安全防线，又完善了社交产品的核心功能闭环，大幅提升系统的实用性与完整性。</a:t>
            </a:r>
          </a:p>
        </p:txBody>
      </p:sp>
      <p:sp>
        <p:nvSpPr>
          <p:cNvPr id="4" name="AutoShape 4"/>
          <p:cNvSpPr/>
          <p:nvPr/>
        </p:nvSpPr>
        <p:spPr>
          <a:xfrm>
            <a:off x="241300" y="3517900"/>
            <a:ext cx="8547100" cy="952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4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03. 大模型在社交场景的落地应用</a:t>
            </a:r>
            <a:endParaRPr lang="en-US" sz="1100"/>
          </a:p>
          <a:p>
            <a:pPr marL="0" indent="0" algn="just">
              <a:lnSpc>
                <a:spcPts val="2100"/>
              </a:lnSpc>
            </a:pPr>
            <a:r>
              <a:rPr lang="en-US" sz="13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并非简单的API调用演示，而是将DeepSeek大模型深度集成至业务流程，为用户提供实际可用的社交文案辅助、内容润色等功能，让AI能力服务于真实社交需求，切实探索大语言模型在社交领域的落地潜力与价值边界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3/4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06400" y="127000"/>
            <a:ext cx="571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关键创新点</a:t>
            </a:r>
            <a:r>
              <a:rPr lang="en-US" sz="20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| 核心价值与特色解析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10" name="Connector 10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9400" y="711200"/>
            <a:ext cx="73660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系统总体设计聚焦于构建高可用、可扩展的整体架构，明确核心功能模块的划分与交互逻辑，确立数据流转、技术选型与安全规范等关键决策，为系统的落地实施奠定坚实基础。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06400" y="127000"/>
            <a:ext cx="571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r>
              <a:rPr lang="en-US" sz="20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系统总体设计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8" name="Connector 8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B20509A-0073-E874-2334-328A69CA9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805" y="1328901"/>
            <a:ext cx="2470595" cy="381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4900" y="1331912"/>
            <a:ext cx="8547100" cy="2286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ts val="2100"/>
              </a:lnSpc>
            </a:pPr>
            <a:endParaRPr lang="en-US" sz="1300" b="1" i="0" u="none" strike="noStrike" dirty="0">
              <a:solidFill>
                <a:srgbClr val="8A1538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ts val="2100"/>
              </a:lnSpc>
            </a:pPr>
            <a:endParaRPr lang="en-US" sz="1300" b="1" dirty="0">
              <a:solidFill>
                <a:srgbClr val="8A1538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ts val="2100"/>
              </a:lnSpc>
            </a:pPr>
            <a:endParaRPr lang="en-US" sz="1300" b="1" i="0" u="none" strike="noStrike" dirty="0">
              <a:solidFill>
                <a:srgbClr val="8A1538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ts val="2100"/>
              </a:lnSpc>
            </a:pPr>
            <a:endParaRPr lang="en-US" sz="1300" b="1" dirty="0">
              <a:solidFill>
                <a:srgbClr val="8A1538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ts val="2100"/>
              </a:lnSpc>
            </a:pPr>
            <a:endParaRPr lang="en-US" sz="1300" b="1" i="0" u="none" strike="noStrike" dirty="0">
              <a:solidFill>
                <a:srgbClr val="8A1538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ts val="2100"/>
              </a:lnSpc>
            </a:pPr>
            <a:endParaRPr lang="en-US" sz="1300" b="1" dirty="0">
              <a:solidFill>
                <a:srgbClr val="8A1538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ts val="2100"/>
              </a:lnSpc>
            </a:pPr>
            <a:endParaRPr lang="en-US" sz="1300" b="1" dirty="0">
              <a:solidFill>
                <a:srgbClr val="8A1538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ts val="2100"/>
              </a:lnSpc>
            </a:pPr>
            <a:endParaRPr lang="en-US" sz="1300" b="1" dirty="0">
              <a:solidFill>
                <a:srgbClr val="8A1538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ts val="2100"/>
              </a:lnSpc>
            </a:pPr>
            <a:endParaRPr lang="en-US" sz="1300" b="1" dirty="0">
              <a:solidFill>
                <a:srgbClr val="8A1538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ts val="2100"/>
              </a:lnSpc>
            </a:pPr>
            <a:endParaRPr lang="en-US" sz="1300" b="1" dirty="0">
              <a:solidFill>
                <a:srgbClr val="8A1538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ts val="2100"/>
              </a:lnSpc>
            </a:pPr>
            <a:endParaRPr lang="en-US" sz="1300" b="1" dirty="0">
              <a:solidFill>
                <a:srgbClr val="8A1538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ts val="2100"/>
              </a:lnSpc>
            </a:pPr>
            <a:endParaRPr lang="en-US" sz="1300" b="1" dirty="0">
              <a:solidFill>
                <a:srgbClr val="8A1538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ts val="2100"/>
              </a:lnSpc>
            </a:pPr>
            <a:r>
              <a:rPr lang="en-US" sz="1300" b="1" i="0" u="none" strike="noStrike" dirty="0">
                <a:solidFill>
                  <a:srgbClr val="8A1538"/>
                </a:solidFill>
                <a:latin typeface="微软雅黑"/>
                <a:ea typeface="微软雅黑"/>
                <a:cs typeface="微软雅黑"/>
                <a:sym typeface="微软雅黑"/>
              </a:rPr>
              <a:t>架构优势总结：</a:t>
            </a:r>
            <a:r>
              <a:rPr lang="en-US" sz="1300" b="0" i="0" u="none" strike="noStrike" dirty="0">
                <a:solidFill>
                  <a:srgbClr val="8A1538"/>
                </a:solidFill>
                <a:latin typeface="微软雅黑"/>
                <a:ea typeface="微软雅黑"/>
                <a:cs typeface="微软雅黑"/>
                <a:sym typeface="微软雅黑"/>
              </a:rPr>
              <a:t>分层解耦设计让系统维护更便捷，REST负责可靠的业务落地，WebSocket保障极致的实时体验，二者互补形成完整的通信闭环。</a:t>
            </a:r>
          </a:p>
        </p:txBody>
      </p:sp>
      <p:sp>
        <p:nvSpPr>
          <p:cNvPr id="3" name="AutoShape 3"/>
          <p:cNvSpPr/>
          <p:nvPr/>
        </p:nvSpPr>
        <p:spPr>
          <a:xfrm>
            <a:off x="248500" y="704056"/>
            <a:ext cx="76200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技术实现方案</a:t>
            </a:r>
            <a:r>
              <a:rPr lang="en-US" sz="1800" b="1" i="0" u="none" strike="noStrike" dirty="0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—— REST API + WebSocket </a:t>
            </a:r>
            <a:r>
              <a:rPr lang="en-US" sz="1800" b="1" i="0" u="none" strike="noStrike" dirty="0" err="1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双协议协同架构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02/04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406400" y="127000"/>
            <a:ext cx="571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系统总体架构</a:t>
            </a:r>
            <a:r>
              <a:rPr lang="en-US" sz="20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| 核心技术栈与分层设计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9" name="Connector 9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609A430-0C83-FE0B-869A-D70046990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700" y="1091049"/>
            <a:ext cx="3346900" cy="35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559300"/>
            <a:ext cx="8547100" cy="2286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ts val="2100"/>
              </a:lnSpc>
            </a:pPr>
            <a:r>
              <a:rPr lang="en-US" sz="1300" b="1" i="0" u="none" strike="noStrike" dirty="0" err="1">
                <a:solidFill>
                  <a:srgbClr val="8A1538"/>
                </a:solidFill>
                <a:latin typeface="微软雅黑"/>
                <a:ea typeface="微软雅黑"/>
                <a:cs typeface="微软雅黑"/>
                <a:sym typeface="微软雅黑"/>
              </a:rPr>
              <a:t>设计亮点：</a:t>
            </a:r>
            <a:r>
              <a:rPr lang="en-US" sz="1300" b="0" i="0" u="none" strike="noStrike" dirty="0" err="1">
                <a:solidFill>
                  <a:srgbClr val="8A1538"/>
                </a:solidFill>
                <a:latin typeface="微软雅黑"/>
                <a:ea typeface="微软雅黑"/>
                <a:cs typeface="微软雅黑"/>
                <a:sym typeface="微软雅黑"/>
              </a:rPr>
              <a:t>全链路数据加密存储，实体关系解耦清晰，兼顾系统扩展性与数据安全性，为业务迭代提供稳定的底层数据支撑</a:t>
            </a:r>
            <a:r>
              <a:rPr lang="en-US" sz="1300" b="0" i="0" u="none" strike="noStrike" dirty="0">
                <a:solidFill>
                  <a:srgbClr val="8A1538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3" name="AutoShape 3"/>
          <p:cNvSpPr/>
          <p:nvPr/>
        </p:nvSpPr>
        <p:spPr>
          <a:xfrm>
            <a:off x="317500" y="711200"/>
            <a:ext cx="63500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核心实体关系解析</a:t>
            </a:r>
            <a:r>
              <a:rPr lang="en-US" sz="1800" b="1" i="0" u="none" strike="noStrike" dirty="0" err="1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（ER图数据模型详解</a:t>
            </a:r>
            <a:r>
              <a:rPr lang="en-US" sz="1800" b="1" i="0" u="none" strike="noStrike" dirty="0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2/4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06400" y="127000"/>
            <a:ext cx="44323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数据库设计方案</a:t>
            </a:r>
            <a:r>
              <a:rPr lang="en-US" sz="20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（ER图与实体定义）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9" name="Connector 9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271D4CB-1537-6C7B-0C20-B58DBA367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394" y="1079500"/>
            <a:ext cx="3655206" cy="3591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2032000"/>
            <a:ext cx="7366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90500" tIns="190500" rIns="190500" bIns="1905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本章节聚焦项目的核心技术实现，重点阐述端到端加密方案的构建思路。从密钥生成的非对称加密算法应用，到传输过程中的混合加密模式，再到数据落盘的安全存储策略，我们构建了全链路的安全防护体系，确保数据在传输与使用过程中的机密性与完整性，为业务场景提供坚实的技术支撑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1/4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406400" y="127000"/>
            <a:ext cx="571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04</a:t>
            </a:r>
            <a:r>
              <a:rPr lang="en-US" sz="20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核心技术实现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8" name="Connector 8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41300" y="2044700"/>
            <a:ext cx="8547100" cy="12319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400" b="1" i="0" u="none" strike="noStrike" dirty="0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02 </a:t>
            </a:r>
            <a:r>
              <a:rPr lang="en-US" sz="14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群聊加密：混合加密</a:t>
            </a:r>
            <a:r>
              <a:rPr lang="en-US" sz="1400" b="1" i="0" u="none" strike="noStrike" dirty="0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 (AES-GCM + RSA-OAEP)</a:t>
            </a:r>
            <a:endParaRPr lang="en-US" sz="1100" dirty="0"/>
          </a:p>
          <a:p>
            <a:pPr marL="0" indent="0" algn="just">
              <a:lnSpc>
                <a:spcPts val="2100"/>
              </a:lnSpc>
            </a:pPr>
            <a:r>
              <a:rPr lang="en-US" sz="13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流程：随机生成高效的AES会话密钥加密消息正文，再使用群内每位成员的RSA公钥分别加密该会话密钥并分送，确保只有群成员能解密获取密钥。</a:t>
            </a:r>
          </a:p>
          <a:p>
            <a:pPr marL="0" indent="0" algn="just">
              <a:lnSpc>
                <a:spcPts val="2100"/>
              </a:lnSpc>
            </a:pPr>
            <a:r>
              <a:rPr lang="en-US" sz="13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优势：兼顾加密效率与安全性，在群成员动态变更时，仅需更新密钥分发逻辑即可，无需重新加密历史消息，适配群聊高频交互场景</a:t>
            </a:r>
            <a:r>
              <a:rPr lang="en-US" sz="13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3" name="AutoShape 3"/>
          <p:cNvSpPr/>
          <p:nvPr/>
        </p:nvSpPr>
        <p:spPr>
          <a:xfrm>
            <a:off x="241300" y="901700"/>
            <a:ext cx="8547100" cy="965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400" b="1" i="0" u="none" strike="noStrike" dirty="0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01 </a:t>
            </a:r>
            <a:r>
              <a:rPr lang="en-US" sz="14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单聊加密：RSA-OAEP</a:t>
            </a:r>
            <a:r>
              <a:rPr lang="en-US" sz="1400" b="1" i="0" u="none" strike="noStrike" dirty="0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en-US" sz="14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双密文机制</a:t>
            </a:r>
            <a:endParaRPr lang="en-US" sz="1100" dirty="0"/>
          </a:p>
          <a:p>
            <a:pPr marL="0" indent="0" algn="just">
              <a:lnSpc>
                <a:spcPts val="2100"/>
              </a:lnSpc>
            </a:pPr>
            <a:r>
              <a:rPr lang="en-US" sz="13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流程：发送方分别使用自己和接收方的RSA公钥对原始消息进行双重加密，生成两份独立密文后发送至服务端存储</a:t>
            </a:r>
            <a:r>
              <a:rPr lang="en-US" sz="13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0" indent="0" algn="just">
              <a:lnSpc>
                <a:spcPts val="2100"/>
              </a:lnSpc>
            </a:pPr>
            <a:r>
              <a:rPr lang="en-US" sz="13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优势：聊天双方均可通过自身私钥独立解密，完整查看会话历史记录，同时杜绝了服务端和第三方获取明文的可能</a:t>
            </a:r>
            <a:endParaRPr lang="en-US" sz="1300" b="0" i="0" u="none" strike="noStrike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41300" y="3517900"/>
            <a:ext cx="85471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400" b="1" i="0" u="none" strike="noStrike" dirty="0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03 </a:t>
            </a:r>
            <a:r>
              <a:rPr lang="en-US" sz="14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核心安全目标：数据主权完全归用户所有</a:t>
            </a:r>
            <a:endParaRPr lang="en-US" sz="1100" dirty="0"/>
          </a:p>
          <a:p>
            <a:pPr algn="just">
              <a:lnSpc>
                <a:spcPts val="2100"/>
              </a:lnSpc>
            </a:pPr>
            <a:r>
              <a:rPr lang="en-US" sz="13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所有加解密运算均在浏览器</a:t>
            </a:r>
            <a:r>
              <a:rPr lang="en-US" sz="13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/客户端本地环境完成，服</a:t>
            </a:r>
            <a:r>
              <a:rPr lang="en-US" altLang="zh-CN" sz="1300" dirty="0">
                <a:latin typeface="微软雅黑"/>
                <a:ea typeface="微软雅黑"/>
                <a:cs typeface="微软雅黑"/>
                <a:sym typeface="微软雅黑"/>
              </a:rPr>
              <a:t>从架构层确保通信隐私</a:t>
            </a:r>
            <a:r>
              <a:rPr lang="en-US" sz="13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务端仅充当“</a:t>
            </a:r>
            <a:r>
              <a:rPr lang="en-US" sz="13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哑管道</a:t>
            </a:r>
            <a:r>
              <a:rPr lang="en-US" sz="13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”，</a:t>
            </a:r>
            <a:r>
              <a:rPr lang="en-US" sz="13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负责密文的存储、路由与转发，全程无法接触、解析任何消息明文</a:t>
            </a:r>
            <a:r>
              <a:rPr lang="en-US" sz="13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，。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3/4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06400" y="127000"/>
            <a:ext cx="508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端到端加密方案</a:t>
            </a:r>
            <a:r>
              <a:rPr lang="en-US" sz="20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| 服务端永不触明文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10" name="Connector 10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C20B6-8FD9-7163-E183-9CD48ED7B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A714F24-A7B4-46A0-CE73-9748B834BCFC}"/>
              </a:ext>
            </a:extLst>
          </p:cNvPr>
          <p:cNvSpPr/>
          <p:nvPr/>
        </p:nvSpPr>
        <p:spPr>
          <a:xfrm>
            <a:off x="241300" y="2044700"/>
            <a:ext cx="8547100" cy="12319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endParaRPr lang="en-US" sz="1300" b="0" i="0" u="none" strike="noStrike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D059AF8-5317-DB4B-3093-37C1C0E24FB4}"/>
              </a:ext>
            </a:extLst>
          </p:cNvPr>
          <p:cNvSpPr/>
          <p:nvPr/>
        </p:nvSpPr>
        <p:spPr>
          <a:xfrm>
            <a:off x="241300" y="901700"/>
            <a:ext cx="8547100" cy="965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4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单聊加密：RSA-OAEP</a:t>
            </a:r>
            <a:r>
              <a:rPr lang="en-US" sz="1400" b="1" i="0" u="none" strike="noStrike" dirty="0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en-US" sz="14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双密文机制</a:t>
            </a:r>
            <a:endParaRPr lang="en-US" sz="1400" b="1" i="0" u="none" strike="noStrike" dirty="0">
              <a:solidFill>
                <a:srgbClr val="00AAA6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2B8AC14-E985-4BF4-B4AD-030D063EA1E4}"/>
              </a:ext>
            </a:extLst>
          </p:cNvPr>
          <p:cNvSpPr/>
          <p:nvPr/>
        </p:nvSpPr>
        <p:spPr>
          <a:xfrm>
            <a:off x="228600" y="3539500"/>
            <a:ext cx="85471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endParaRPr lang="en-US" sz="1300" b="0" i="0" u="none" strike="noStrike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F6D7A73-B2E4-05A1-2579-91D0B003D88B}"/>
              </a:ext>
            </a:extLst>
          </p:cNvPr>
          <p:cNvSpPr/>
          <p:nvPr/>
        </p:nvSpPr>
        <p:spPr>
          <a:xfrm>
            <a:off x="406400" y="127000"/>
            <a:ext cx="508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端到端加密方案</a:t>
            </a:r>
            <a:r>
              <a:rPr lang="en-US" sz="20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| 服务端永不触明文</a:t>
            </a:r>
            <a:endParaRPr lang="en-US" sz="1100"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2F911155-0968-366E-6414-8FD285CD79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10" name="Connector 10">
            <a:extLst>
              <a:ext uri="{FF2B5EF4-FFF2-40B4-BE49-F238E27FC236}">
                <a16:creationId xmlns:a16="http://schemas.microsoft.com/office/drawing/2014/main" id="{A46A8A3E-A635-BFA4-6289-FBB9867EDDD4}"/>
              </a:ext>
            </a:extLst>
          </p:cNvPr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>
            <a:extLst>
              <a:ext uri="{FF2B5EF4-FFF2-40B4-BE49-F238E27FC236}">
                <a16:creationId xmlns:a16="http://schemas.microsoft.com/office/drawing/2014/main" id="{71EED311-C3E3-4891-3238-EDE5F62751FB}"/>
              </a:ext>
            </a:extLst>
          </p:cNvPr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E862BC0E-1CC1-6D86-AA0D-66D36D721B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6C965D36-55E7-2FA0-F8D6-729309995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188" y="1221807"/>
            <a:ext cx="4102012" cy="380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982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8A96F-0781-BD4E-4829-AC4DD8D6F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F13E0E8-E10C-AC12-E06F-2D699593D76A}"/>
              </a:ext>
            </a:extLst>
          </p:cNvPr>
          <p:cNvSpPr/>
          <p:nvPr/>
        </p:nvSpPr>
        <p:spPr>
          <a:xfrm>
            <a:off x="279400" y="2044701"/>
            <a:ext cx="8547100" cy="12319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endParaRPr lang="en-US" sz="1300" b="0" i="0" u="none" strike="noStrike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A70E018-0504-1956-919E-6D7F360EA999}"/>
              </a:ext>
            </a:extLst>
          </p:cNvPr>
          <p:cNvSpPr/>
          <p:nvPr/>
        </p:nvSpPr>
        <p:spPr>
          <a:xfrm>
            <a:off x="241300" y="901700"/>
            <a:ext cx="8547100" cy="965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just">
              <a:spcAft>
                <a:spcPts val="1000"/>
              </a:spcAft>
              <a:defRPr/>
            </a:pPr>
            <a:r>
              <a:rPr lang="en-US" altLang="zh-CN" b="1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群聊加密：混合加密</a:t>
            </a:r>
            <a:r>
              <a:rPr lang="en-US" altLang="zh-CN" b="1" dirty="0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 (AES-GCM + RSA-OAEP)</a:t>
            </a:r>
            <a:endParaRPr lang="en-US" altLang="zh-CN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408B1CA-DB41-558E-0A88-80896DFF0CBB}"/>
              </a:ext>
            </a:extLst>
          </p:cNvPr>
          <p:cNvSpPr/>
          <p:nvPr/>
        </p:nvSpPr>
        <p:spPr>
          <a:xfrm>
            <a:off x="228600" y="3539500"/>
            <a:ext cx="85471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endParaRPr lang="en-US" sz="1300" b="0" i="0" u="none" strike="noStrike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D2556E8-0CF9-AFE7-34E4-1A4C14A0D5F6}"/>
              </a:ext>
            </a:extLst>
          </p:cNvPr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3/4</a:t>
            </a:r>
            <a:endParaRPr lang="en-US" sz="1100" dirty="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0422049-FA15-F01B-76DD-B8A882512A61}"/>
              </a:ext>
            </a:extLst>
          </p:cNvPr>
          <p:cNvSpPr/>
          <p:nvPr/>
        </p:nvSpPr>
        <p:spPr>
          <a:xfrm>
            <a:off x="406400" y="127000"/>
            <a:ext cx="508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端到端加密方案</a:t>
            </a:r>
            <a:r>
              <a:rPr lang="en-US" sz="20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| 服务端永不触明文</a:t>
            </a:r>
            <a:endParaRPr lang="en-US" sz="1100"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24C666AD-C422-6DF7-EBD6-44E4866D1B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10" name="Connector 10">
            <a:extLst>
              <a:ext uri="{FF2B5EF4-FFF2-40B4-BE49-F238E27FC236}">
                <a16:creationId xmlns:a16="http://schemas.microsoft.com/office/drawing/2014/main" id="{055D9DC7-A2D5-E83E-7F3C-3B486293C218}"/>
              </a:ext>
            </a:extLst>
          </p:cNvPr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>
            <a:extLst>
              <a:ext uri="{FF2B5EF4-FFF2-40B4-BE49-F238E27FC236}">
                <a16:creationId xmlns:a16="http://schemas.microsoft.com/office/drawing/2014/main" id="{CF6BBA84-C903-11EB-11DB-EBC406BE942A}"/>
              </a:ext>
            </a:extLst>
          </p:cNvPr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700743A8-1C56-7CB7-CF57-640F86D4DD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5E73DDE3-F7DC-6849-B633-67A7C6F62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149" y="1276701"/>
            <a:ext cx="4173043" cy="376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087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784600" y="2578100"/>
            <a:ext cx="15748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多维度验证系统实效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1/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406400" y="127000"/>
            <a:ext cx="44323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05 系统测试与成果展示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8" name="Connector 8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508000" y="1524000"/>
            <a:ext cx="8128000" cy="1524000"/>
          </a:xfrm>
          <a:prstGeom prst="roundRect">
            <a:avLst>
              <a:gd name="adj" fmla="val 0"/>
            </a:avLst>
          </a:prstGeom>
          <a:solidFill>
            <a:srgbClr val="00AA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1714500"/>
            <a:ext cx="76200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理论设计需经实践检验。本部分重点展示系统在功能完整性、性能稳定性及用户体验方面的测试结果，涵盖单元测试、集成测试与验收测试的全流程数据，通过可视化图表与实际运行案例，验证系统架构的合理性与落地价值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3556000"/>
            <a:ext cx="3746500" cy="11430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" y="3683000"/>
            <a:ext cx="34925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AAA6"/>
                </a:solidFill>
                <a:latin typeface="Noto Sans SC"/>
                <a:ea typeface="Noto Sans SC"/>
                <a:cs typeface="Noto Sans SC"/>
                <a:sym typeface="Noto Sans SC"/>
              </a:rPr>
              <a:t>▌ 全流程测试闭环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建立从模块测试到系统联调的标准化流程，覆盖边界值、异常场景等200+测试用例，确保核心功能零缺陷交付。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635500" y="3556000"/>
            <a:ext cx="3746500" cy="11430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762500" y="3683000"/>
            <a:ext cx="34925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AAA6"/>
                </a:solidFill>
                <a:latin typeface="Noto Sans SC"/>
                <a:ea typeface="Noto Sans SC"/>
                <a:cs typeface="Noto Sans SC"/>
                <a:sym typeface="Noto Sans SC"/>
              </a:rPr>
              <a:t>▌ 关键指标达成率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系统响应速度提升40%，数据处理准确率达到99.9%，服务器资源利用率优化至75%，各项核心KPI均超预期完成。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400" y="127000"/>
            <a:ext cx="44323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功能与安全测试结果</a:t>
            </a:r>
            <a:endParaRPr lang="en-US" sz="1100" dirty="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4" name="Connector 4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733495"/>
              </p:ext>
            </p:extLst>
          </p:nvPr>
        </p:nvGraphicFramePr>
        <p:xfrm>
          <a:off x="330200" y="1612900"/>
          <a:ext cx="8483600" cy="22479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功能模块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A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核心测试项目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A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关键技术方案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A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执行覆盖度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A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最终结果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AA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用户认证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注册/登录/密码管理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bcrypt加盐哈希存储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全流程场景覆盖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AAA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✓ 已通过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消息加密通信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单聊/群聊密文传输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RSA-OAEP + AES-GCM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消息压测</a:t>
                      </a:r>
                      <a:endParaRPr lang="en-US" sz="11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AAA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✓ 已通过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实时通信服务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推送/多端连接管理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WebSocket长连接集群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高并发场景验证</a:t>
                      </a:r>
                      <a:endParaRPr lang="en-US" sz="11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AAA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✓ 已通过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社交与智能应用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朋友圈/AI文案生成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DeepSeek API/OSS存储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功能闭环完整验证</a:t>
                      </a:r>
                      <a:endParaRPr lang="en-US" sz="11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AAA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✓ 已通过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安全合规防护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渗透测试/漏洞扫描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HTTPS/OWASP Top10防护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全维度安全审计</a:t>
                      </a:r>
                      <a:endParaRPr lang="en-US" sz="11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 dirty="0">
                          <a:solidFill>
                            <a:srgbClr val="00AAA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✓ </a:t>
                      </a:r>
                      <a:r>
                        <a:rPr lang="en-US" sz="1300" b="1" i="0" u="none" strike="noStrike" dirty="0" err="1">
                          <a:solidFill>
                            <a:srgbClr val="00AAA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已通过</a:t>
                      </a:r>
                      <a:endParaRPr lang="en-US" sz="11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317500" y="4013200"/>
            <a:ext cx="8166100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安全测试涵盖密码安全(bcrypt哈希)、通信链路(HTTPS全加密)、数据存储(消息密文落库)三大核心维度；同时针对OWASP Top 10 安全风险点进行专项加固，系统整体安全性与功能完整性均达到上线标准。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41300" y="1079500"/>
            <a:ext cx="29591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测试执行概况</a:t>
            </a:r>
            <a:r>
              <a:rPr lang="en-US" sz="18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（全量通过）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41300" y="1435100"/>
            <a:ext cx="8547100" cy="2286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4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核心演示环节</a:t>
            </a:r>
            <a:endParaRPr lang="en-US" b="1" dirty="0">
              <a:solidFill>
                <a:srgbClr val="D9D9D9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endParaRPr lang="en-US" sz="1300" b="1" dirty="0">
              <a:solidFill>
                <a:srgbClr val="D9D9D9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ct val="100000"/>
              </a:lnSpc>
              <a:spcAft>
                <a:spcPts val="1000"/>
              </a:spcAft>
              <a:defRPr/>
            </a:pPr>
            <a:endParaRPr lang="en-US" sz="1300" b="1" dirty="0">
              <a:solidFill>
                <a:srgbClr val="8A1538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ts val="2100"/>
              </a:lnSpc>
            </a:pPr>
            <a:r>
              <a:rPr lang="en-US" sz="1300" b="1" i="0" u="none" strike="noStrike" dirty="0" err="1">
                <a:solidFill>
                  <a:srgbClr val="8A1538"/>
                </a:solidFill>
                <a:latin typeface="微软雅黑"/>
                <a:ea typeface="微软雅黑"/>
                <a:cs typeface="微软雅黑"/>
                <a:sym typeface="微软雅黑"/>
              </a:rPr>
              <a:t>演示亮点：</a:t>
            </a:r>
            <a:r>
              <a:rPr lang="en-US" sz="1300" b="0" i="0" u="none" strike="noStrike" dirty="0" err="1">
                <a:solidFill>
                  <a:srgbClr val="8A1538"/>
                </a:solidFill>
                <a:latin typeface="微软雅黑"/>
                <a:ea typeface="微软雅黑"/>
                <a:cs typeface="微软雅黑"/>
                <a:sym typeface="微软雅黑"/>
              </a:rPr>
              <a:t>全流程贴合真实用户使用习惯，核心加密逻辑透明化展示，AI能力深度融合社交场景，体现系统安全与易用性的统一</a:t>
            </a:r>
            <a:r>
              <a:rPr lang="en-US" sz="1300" b="0" i="0" u="none" strike="noStrike" dirty="0">
                <a:solidFill>
                  <a:srgbClr val="8A1538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3" name="AutoShape 3"/>
          <p:cNvSpPr/>
          <p:nvPr/>
        </p:nvSpPr>
        <p:spPr>
          <a:xfrm>
            <a:off x="241300" y="977900"/>
            <a:ext cx="50800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核心流程呈现</a:t>
            </a:r>
            <a:r>
              <a:rPr lang="en-US" sz="18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（从注册到智能社交的完整闭环）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3/5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06400" y="127000"/>
            <a:ext cx="571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系统运行演示</a:t>
            </a:r>
            <a:r>
              <a:rPr lang="en-US" sz="20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（功能实操与效果验证）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9" name="Connector 9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41300" y="1435100"/>
            <a:ext cx="8547100" cy="298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spcAft>
                <a:spcPts val="1000"/>
              </a:spcAft>
              <a:defRPr/>
            </a:pPr>
            <a:r>
              <a:rPr lang="en-US" sz="1400" b="1" i="0" u="none" strike="noStrike" dirty="0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01 </a:t>
            </a:r>
            <a:r>
              <a:rPr lang="en-US" sz="1400" b="1" i="0" u="none" strike="noStrike" dirty="0" err="1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项目核心成果交付</a:t>
            </a:r>
            <a:endParaRPr lang="en-US" sz="1100" dirty="0"/>
          </a:p>
          <a:p>
            <a:pPr marL="0" indent="0" algn="just">
              <a:lnSpc>
                <a:spcPts val="2100"/>
              </a:lnSpc>
            </a:pPr>
            <a:r>
              <a:rPr lang="en-US" sz="13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系统完整度：</a:t>
            </a:r>
            <a:r>
              <a:rPr lang="en-US" sz="13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成功构建覆盖用户注册、即时聊天、社交互动、数据加密的全链路Web应用，实现前后端分离架构，业务流程闭环完整，满足基础通信核心需求。</a:t>
            </a:r>
          </a:p>
          <a:p>
            <a:pPr marL="0" indent="0" algn="just">
              <a:lnSpc>
                <a:spcPts val="2100"/>
              </a:lnSpc>
            </a:pPr>
            <a:r>
              <a:rPr lang="en-US" sz="13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技术与工程亮点：</a:t>
            </a:r>
            <a:r>
              <a:rPr lang="en-US" sz="13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落地端到端加密方案，针对单聊、群聊设计差异化加密策略；创新性集成DeepSeek大模型赋能智能交互；代码模块化程度高，全程贯彻安全开发最佳实践，工程可维护性强。</a:t>
            </a:r>
          </a:p>
          <a:p>
            <a:pPr marL="0" indent="0" algn="l">
              <a:lnSpc>
                <a:spcPct val="108333"/>
              </a:lnSpc>
              <a:spcAft>
                <a:spcPts val="1000"/>
              </a:spcAft>
            </a:pPr>
            <a:r>
              <a:rPr lang="en-US" sz="1400" b="1" i="0" u="none" strike="noStrike" dirty="0">
                <a:solidFill>
                  <a:srgbClr val="8A1538"/>
                </a:solidFill>
                <a:latin typeface="微软雅黑"/>
                <a:ea typeface="微软雅黑"/>
                <a:cs typeface="微软雅黑"/>
                <a:sym typeface="微软雅黑"/>
              </a:rPr>
              <a:t>02 </a:t>
            </a:r>
            <a:r>
              <a:rPr lang="en-US" sz="1400" b="1" i="0" u="none" strike="noStrike" dirty="0" err="1">
                <a:solidFill>
                  <a:srgbClr val="8A1538"/>
                </a:solidFill>
                <a:latin typeface="微软雅黑"/>
                <a:ea typeface="微软雅黑"/>
                <a:cs typeface="微软雅黑"/>
                <a:sym typeface="微软雅黑"/>
              </a:rPr>
              <a:t>现存局限与未来演进规划</a:t>
            </a:r>
            <a:endParaRPr lang="en-US" sz="1400" b="1" i="0" u="none" strike="noStrike" dirty="0">
              <a:solidFill>
                <a:srgbClr val="8A1538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just">
              <a:lnSpc>
                <a:spcPts val="2100"/>
              </a:lnSpc>
            </a:pPr>
            <a:r>
              <a:rPr lang="en-US" sz="13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当前阶段限制：</a:t>
            </a:r>
            <a:r>
              <a:rPr lang="en-US" sz="13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暂未实现多设备消息同步、前向保密等高级安全特性，功能覆盖仅限Web端，移动端场景存在空白</a:t>
            </a:r>
            <a:r>
              <a:rPr lang="en-US" sz="13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0" indent="0" algn="just">
              <a:lnSpc>
                <a:spcPts val="2100"/>
              </a:lnSpc>
            </a:pPr>
            <a:r>
              <a:rPr lang="en-US" sz="13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未来拓展方向：</a:t>
            </a:r>
            <a:r>
              <a:rPr lang="en-US" sz="13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开发iOS</a:t>
            </a:r>
            <a:r>
              <a:rPr lang="en-US" sz="13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/Android移动端适配多端同步；引入X3DH协议强化通信安全；新增消息撤回、已读回执完善交互；拓展AI能力至内容审核、图片生成等场景，打造更智能、更安全的IM生态。</a:t>
            </a:r>
          </a:p>
        </p:txBody>
      </p:sp>
      <p:sp>
        <p:nvSpPr>
          <p:cNvPr id="3" name="AutoShape 3"/>
          <p:cNvSpPr/>
          <p:nvPr/>
        </p:nvSpPr>
        <p:spPr>
          <a:xfrm>
            <a:off x="241300" y="977900"/>
            <a:ext cx="76200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项目成果回顾</a:t>
            </a:r>
            <a:r>
              <a:rPr lang="en-US" sz="18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| 技术迭代与功能延伸方向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406400" y="127000"/>
            <a:ext cx="571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06 总结与展望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9" name="Connector 9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2540000"/>
            <a:ext cx="8128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感谢各位评委老师的聆听与指导</a:t>
            </a:r>
            <a:r>
              <a:rPr lang="en-US" sz="2200" b="1" i="0" u="none" strike="noStrike" dirty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！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8356600" y="4800600"/>
            <a:ext cx="508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406400" y="127000"/>
            <a:ext cx="44323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AAA6"/>
                </a:solidFill>
                <a:latin typeface="微软雅黑"/>
                <a:ea typeface="微软雅黑"/>
                <a:cs typeface="微软雅黑"/>
                <a:sym typeface="微软雅黑"/>
              </a:rPr>
              <a:t>汇报致谢</a:t>
            </a:r>
            <a:r>
              <a:rPr lang="en-US" sz="2000" b="1" i="0" u="none" strike="noStrike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| 感谢聆听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9700" y="0"/>
            <a:ext cx="2336800" cy="596900"/>
          </a:xfrm>
          <a:prstGeom prst="rect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</p:pic>
      <p:cxnSp>
        <p:nvCxnSpPr>
          <p:cNvPr id="8" name="Connector 8"/>
          <p:cNvCxnSpPr/>
          <p:nvPr/>
        </p:nvCxnSpPr>
        <p:spPr>
          <a:xfrm>
            <a:off x="368300" y="584200"/>
            <a:ext cx="7239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49D9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317500" y="533400"/>
            <a:ext cx="88900" cy="88900"/>
          </a:xfrm>
          <a:prstGeom prst="ellipse">
            <a:avLst/>
          </a:prstGeom>
          <a:solidFill>
            <a:srgbClr val="00AA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5900" y="114300"/>
            <a:ext cx="22098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1108</Words>
  <Application>Microsoft Office PowerPoint</Application>
  <PresentationFormat>全屏显示(16:9)</PresentationFormat>
  <Paragraphs>206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Noto Sans SC</vt:lpstr>
      <vt:lpstr>微软雅黑</vt:lpstr>
      <vt:lpstr>Arial</vt:lpstr>
      <vt:lpstr>Calibri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浩然 王</cp:lastModifiedBy>
  <cp:revision>34</cp:revision>
  <dcterms:modified xsi:type="dcterms:W3CDTF">2026-06-09T12:44:23Z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{"Label":"1","ContentProducer":"001191110102MACQD9K64010000","ProduceID":"7648913759314971617","ReservedCode1":"","ContentPropagator":"","PropagateID":"","ReservedCode2":""}</vt:lpwstr>
  </property>
</Properties>
</file>